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de9f848f6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g3de9f848f6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de9f848f6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de9f848f6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g3de9f848f6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de9f848f60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9f848f60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de9f848f60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de9f848f60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e9f848f60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de9f848f60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e9f848f60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e9f848f60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e9f848f60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de9f848f60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e9f848f60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de9f848f60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e9f848f60_0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82880" y="274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♠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0" y="274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♦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82880" y="41148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♣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0" y="41148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♥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14400" y="100584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What’s 9 + 10?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CSE 110 · Software Engineering · Group 21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Georgia"/>
              <a:buNone/>
            </a:pPr>
            <a:r>
              <a:rPr b="0" i="1" lang="en-US" sz="14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"Always bet on 21."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D4AF37">
              <a:alpha val="7840"/>
            </a:srgbClr>
          </a:solidFill>
          <a:ln cap="flat" cmpd="sng" w="12700">
            <a:solidFill>
              <a:srgbClr val="D4AF37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01168" y="201168"/>
            <a:ext cx="8741700" cy="4745700"/>
          </a:xfrm>
          <a:prstGeom prst="rect">
            <a:avLst/>
          </a:prstGeom>
          <a:solidFill>
            <a:srgbClr val="1A1A1A"/>
          </a:solidFill>
          <a:ln cap="flat" cmpd="sng" w="190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47472" y="347472"/>
            <a:ext cx="8449200" cy="44532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1935815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5200"/>
              <a:buFont typeface="Georgia"/>
              <a:buNone/>
            </a:pPr>
            <a:r>
              <a:rPr b="1" lang="en-US" sz="7200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What’s 9 + 10?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2898488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♠  ♥  ♦  ♣</a:t>
            </a:r>
            <a:endParaRPr b="0" i="0" sz="16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75" y="3449575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i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CSE 110 · Software Engineering · Group 21</a:t>
            </a:r>
            <a:endParaRPr i="1" sz="1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t/>
            </a:r>
            <a:endParaRPr i="1" sz="18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370290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Always bet on 21.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1920240"/>
            <a:ext cx="9144000" cy="12801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103120" y="1993392"/>
            <a:ext cx="6675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SECTION TITLE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103120" y="2697480"/>
            <a:ext cx="667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7D1C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A07D1C"/>
                </a:solidFill>
                <a:latin typeface="Georgia"/>
                <a:ea typeface="Georgia"/>
                <a:cs typeface="Georgia"/>
                <a:sym typeface="Georgia"/>
              </a:rPr>
              <a:t>Supporting subtitle or context goes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0" y="1417320"/>
            <a:ext cx="914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♠  ♥  ♦  ♣</a:t>
            </a:r>
            <a:endParaRPr b="0" i="0" sz="14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0" y="3337560"/>
            <a:ext cx="914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♠  ♥  ♦  ♣</a:t>
            </a:r>
            <a:endParaRPr b="0" i="0" sz="1400" u="none" cap="none" strike="noStrike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Georgia"/>
              <a:buNone/>
            </a:pPr>
            <a:r>
              <a:t/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400" y="1887375"/>
            <a:ext cx="1327501" cy="13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02920" y="1005840"/>
            <a:ext cx="4023360" cy="109728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40080" y="10789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♠  Subtitle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40080" y="146304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02920" y="2240280"/>
            <a:ext cx="4023360" cy="109728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40080" y="231343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♥  Subtitle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40080" y="269748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02920" y="3474720"/>
            <a:ext cx="4023360" cy="109728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40080" y="35478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Subtitle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40080" y="393192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846320" y="1005840"/>
            <a:ext cx="4023360" cy="109728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983480" y="10789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♣  Subtitle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983480" y="146304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846320" y="2240280"/>
            <a:ext cx="4023360" cy="109728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983480" y="231343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♠  Subtitle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983480" y="269748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846320" y="3474720"/>
            <a:ext cx="4023360" cy="109728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3A3A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983480" y="354787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Subtitle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983480" y="393192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502920" y="201168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CONTENT SLIDE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02920" y="80467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Use for key points, findings, or explanations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502920" y="1097280"/>
            <a:ext cx="8138100" cy="22800"/>
          </a:xfrm>
          <a:prstGeom prst="rect">
            <a:avLst/>
          </a:prstGeom>
          <a:solidFill>
            <a:srgbClr val="D4AF37">
              <a:alpha val="45100"/>
            </a:srgbClr>
          </a:solidFill>
          <a:ln cap="flat" cmpd="sng" w="12700">
            <a:solidFill>
              <a:srgbClr val="D4AF37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Georgia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02920" y="1261872"/>
            <a:ext cx="3749100" cy="3492900"/>
          </a:xfrm>
          <a:prstGeom prst="rect">
            <a:avLst/>
          </a:prstGeom>
          <a:solidFill>
            <a:srgbClr val="212121"/>
          </a:solidFill>
          <a:ln cap="flat" cmpd="sng" w="12700">
            <a:solidFill>
              <a:srgbClr val="D4AF37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502920" y="1261872"/>
            <a:ext cx="3749100" cy="3840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502920" y="1261872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♠  KEY 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58368" y="1737360"/>
            <a:ext cx="3456300" cy="29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First important point goes here with enough detail to be useful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Second key takeaway — keep it concise and punchy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Third point — use ♥ ♦ ♣ as bullet alternatives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Fourth point — supporting evidence or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Fifth point — action item or conclusion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572000" y="1261872"/>
            <a:ext cx="4069200" cy="3492900"/>
          </a:xfrm>
          <a:prstGeom prst="rect">
            <a:avLst/>
          </a:prstGeom>
          <a:solidFill>
            <a:srgbClr val="212121"/>
          </a:solidFill>
          <a:ln cap="flat" cmpd="sng" w="12700">
            <a:solidFill>
              <a:srgbClr val="D4AF37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4572000" y="1261872"/>
            <a:ext cx="4069200" cy="3840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4572000" y="1261872"/>
            <a:ext cx="406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♦  DETAILS / NOTES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709160" y="1755648"/>
            <a:ext cx="37947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Use this panel for supporting details, code snippets, quotes, or visual context. Replace this placeholder text with your actual content.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You can also embed a chart, image, or diagram here for visual variety.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502920" y="201168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HIGHLIGHTS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502920" y="80467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Key metrics, numbers, or summary cards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502920" y="1097280"/>
            <a:ext cx="8138100" cy="22800"/>
          </a:xfrm>
          <a:prstGeom prst="rect">
            <a:avLst/>
          </a:prstGeom>
          <a:solidFill>
            <a:srgbClr val="D4AF37">
              <a:alpha val="45100"/>
            </a:srgbClr>
          </a:solidFill>
          <a:ln cap="flat" cmpd="sng" w="12700">
            <a:solidFill>
              <a:srgbClr val="D4AF37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Georgia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38912" y="1261872"/>
            <a:ext cx="2633400" cy="34929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D4AF3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438912" y="1261872"/>
            <a:ext cx="2633400" cy="5028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438912" y="1261872"/>
            <a:ext cx="263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30352" y="1901952"/>
            <a:ext cx="24507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00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30352" y="3246120"/>
            <a:ext cx="2450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METRIC 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30352" y="3611880"/>
            <a:ext cx="2450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Brief context for this number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3291840" y="1261872"/>
            <a:ext cx="2633400" cy="34929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D4AF3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3291840" y="1261872"/>
            <a:ext cx="2633400" cy="5028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3291840" y="1261872"/>
            <a:ext cx="263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383280" y="1901952"/>
            <a:ext cx="24507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—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383280" y="3246120"/>
            <a:ext cx="2450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METRIC TWO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3383280" y="3611880"/>
            <a:ext cx="2450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Brief context for this number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144768" y="1261872"/>
            <a:ext cx="2633400" cy="34929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D4AF3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6144768" y="1261872"/>
            <a:ext cx="2633400" cy="5028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6144768" y="1261872"/>
            <a:ext cx="2633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Georgia"/>
              <a:buNone/>
            </a:pPr>
            <a:r>
              <a:rPr b="0" i="0" lang="en-US" sz="22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6236208" y="1901952"/>
            <a:ext cx="24507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TBD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236208" y="3246120"/>
            <a:ext cx="2450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Georgia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METRIC THREE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236208" y="3611880"/>
            <a:ext cx="2450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Brief context for this number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502920" y="201168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02920" y="80467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Side-by-side analysis or before/after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02920" y="1097280"/>
            <a:ext cx="8138100" cy="22800"/>
          </a:xfrm>
          <a:prstGeom prst="rect">
            <a:avLst/>
          </a:prstGeom>
          <a:solidFill>
            <a:srgbClr val="D4AF37">
              <a:alpha val="45100"/>
            </a:srgbClr>
          </a:solidFill>
          <a:ln cap="flat" cmpd="sng" w="12700">
            <a:solidFill>
              <a:srgbClr val="D4AF37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Georgia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38912" y="1261872"/>
            <a:ext cx="4133100" cy="34929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D4AF37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438912" y="1261872"/>
            <a:ext cx="4133100" cy="4755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438912" y="1261872"/>
            <a:ext cx="413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♠  OPTION A / BEFORE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603504" y="1874520"/>
            <a:ext cx="37947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Point one goes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Point two goes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Point three goes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Point four goes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846320" y="1261872"/>
            <a:ext cx="4133100" cy="3492900"/>
          </a:xfrm>
          <a:prstGeom prst="rect">
            <a:avLst/>
          </a:prstGeom>
          <a:solidFill>
            <a:srgbClr val="161616"/>
          </a:solidFill>
          <a:ln cap="flat" cmpd="sng" w="12700">
            <a:solidFill>
              <a:srgbClr val="C0392B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4846320" y="1261872"/>
            <a:ext cx="4133100" cy="475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4846320" y="1261872"/>
            <a:ext cx="413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♥  OPTION B / AFTER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010912" y="1874520"/>
            <a:ext cx="37947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Point one goes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Point two goes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Point three goes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Point four goes 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502920" y="201168"/>
            <a:ext cx="8046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TIMELINE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502920" y="80467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Process steps, sprint plan, or roadmap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02920" y="1097280"/>
            <a:ext cx="8138100" cy="22800"/>
          </a:xfrm>
          <a:prstGeom prst="rect">
            <a:avLst/>
          </a:prstGeom>
          <a:solidFill>
            <a:srgbClr val="D4AF37">
              <a:alpha val="45100"/>
            </a:srgbClr>
          </a:solidFill>
          <a:ln cap="flat" cmpd="sng" w="12700">
            <a:solidFill>
              <a:srgbClr val="D4AF37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0" y="4974336"/>
            <a:ext cx="914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Georgia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822960" y="2377440"/>
            <a:ext cx="7498200" cy="4560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 rot="2700000">
            <a:off x="1188692" y="2176284"/>
            <a:ext cx="411536" cy="411536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594360" y="2743200"/>
            <a:ext cx="1783200" cy="2011800"/>
          </a:xfrm>
          <a:prstGeom prst="rect">
            <a:avLst/>
          </a:prstGeom>
          <a:solidFill>
            <a:srgbClr val="212121"/>
          </a:solidFill>
          <a:ln cap="flat" cmpd="sng" w="12700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94360" y="2743200"/>
            <a:ext cx="17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94360" y="3218688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704088" y="3566160"/>
            <a:ext cx="1563600" cy="22800"/>
          </a:xfrm>
          <a:prstGeom prst="rect">
            <a:avLst/>
          </a:prstGeom>
          <a:solidFill>
            <a:srgbClr val="D4AF37">
              <a:alpha val="34900"/>
            </a:srgbClr>
          </a:solidFill>
          <a:ln cap="flat" cmpd="sng" w="12700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685800" y="3630168"/>
            <a:ext cx="1600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Description of this phase or sprint 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1440180" y="2395728"/>
            <a:ext cx="27300" cy="347400"/>
          </a:xfrm>
          <a:prstGeom prst="rect">
            <a:avLst/>
          </a:prstGeom>
          <a:solidFill>
            <a:srgbClr val="D4AF37">
              <a:alpha val="50199"/>
            </a:srgbClr>
          </a:solidFill>
          <a:ln cap="flat" cmpd="sng" w="12700">
            <a:solidFill>
              <a:srgbClr val="D4AF37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 rot="2700000">
            <a:off x="3182084" y="2176284"/>
            <a:ext cx="411536" cy="411536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2587752" y="2743200"/>
            <a:ext cx="1783200" cy="2011800"/>
          </a:xfrm>
          <a:prstGeom prst="rect">
            <a:avLst/>
          </a:prstGeom>
          <a:solidFill>
            <a:srgbClr val="212121"/>
          </a:solidFill>
          <a:ln cap="flat" cmpd="sng" w="12700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2587752" y="2743200"/>
            <a:ext cx="17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2587752" y="3218688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TWO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2697480" y="3566160"/>
            <a:ext cx="1563600" cy="22800"/>
          </a:xfrm>
          <a:prstGeom prst="rect">
            <a:avLst/>
          </a:prstGeom>
          <a:solidFill>
            <a:srgbClr val="D4AF37">
              <a:alpha val="34900"/>
            </a:srgbClr>
          </a:solidFill>
          <a:ln cap="flat" cmpd="sng" w="12700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2679192" y="3630168"/>
            <a:ext cx="1600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Description of this phase or sprint 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3433572" y="2395728"/>
            <a:ext cx="27300" cy="347400"/>
          </a:xfrm>
          <a:prstGeom prst="rect">
            <a:avLst/>
          </a:prstGeom>
          <a:solidFill>
            <a:srgbClr val="D4AF37">
              <a:alpha val="50199"/>
            </a:srgbClr>
          </a:solidFill>
          <a:ln cap="flat" cmpd="sng" w="12700">
            <a:solidFill>
              <a:srgbClr val="D4AF37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 rot="2700000">
            <a:off x="5175476" y="2176284"/>
            <a:ext cx="411536" cy="411536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4581144" y="2743200"/>
            <a:ext cx="1783200" cy="2011800"/>
          </a:xfrm>
          <a:prstGeom prst="rect">
            <a:avLst/>
          </a:prstGeom>
          <a:solidFill>
            <a:srgbClr val="212121"/>
          </a:solidFill>
          <a:ln cap="flat" cmpd="sng" w="12700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4581144" y="2743200"/>
            <a:ext cx="17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581144" y="3218688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THREE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690872" y="3566160"/>
            <a:ext cx="1563600" cy="22800"/>
          </a:xfrm>
          <a:prstGeom prst="rect">
            <a:avLst/>
          </a:prstGeom>
          <a:solidFill>
            <a:srgbClr val="D4AF37">
              <a:alpha val="34900"/>
            </a:srgbClr>
          </a:solidFill>
          <a:ln cap="flat" cmpd="sng" w="12700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4672584" y="3630168"/>
            <a:ext cx="1600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Description of this phase or sprint 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426964" y="2395728"/>
            <a:ext cx="27300" cy="347400"/>
          </a:xfrm>
          <a:prstGeom prst="rect">
            <a:avLst/>
          </a:prstGeom>
          <a:solidFill>
            <a:srgbClr val="D4AF37">
              <a:alpha val="50199"/>
            </a:srgbClr>
          </a:solidFill>
          <a:ln cap="flat" cmpd="sng" w="12700">
            <a:solidFill>
              <a:srgbClr val="D4AF37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 rot="2700000">
            <a:off x="7168868" y="2176284"/>
            <a:ext cx="411536" cy="411536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6574536" y="2743200"/>
            <a:ext cx="1783200" cy="2011800"/>
          </a:xfrm>
          <a:prstGeom prst="rect">
            <a:avLst/>
          </a:prstGeom>
          <a:solidFill>
            <a:srgbClr val="212121"/>
          </a:solidFill>
          <a:ln cap="flat" cmpd="sng" w="12700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6574536" y="2743200"/>
            <a:ext cx="178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574536" y="3218688"/>
            <a:ext cx="178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org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PHASE FOUR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684264" y="3566160"/>
            <a:ext cx="1563600" cy="22800"/>
          </a:xfrm>
          <a:prstGeom prst="rect">
            <a:avLst/>
          </a:prstGeom>
          <a:solidFill>
            <a:srgbClr val="D4AF37">
              <a:alpha val="34900"/>
            </a:srgbClr>
          </a:solidFill>
          <a:ln cap="flat" cmpd="sng" w="12700">
            <a:solidFill>
              <a:srgbClr val="D4AF37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665976" y="3630168"/>
            <a:ext cx="1600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Georgia"/>
              <a:buNone/>
            </a:pPr>
            <a:r>
              <a:rPr b="0" i="1" lang="en-US" sz="900" u="none" cap="none" strike="noStrike">
                <a:solidFill>
                  <a:srgbClr val="4A4A4A"/>
                </a:solidFill>
                <a:latin typeface="Georgia"/>
                <a:ea typeface="Georgia"/>
                <a:cs typeface="Georgia"/>
                <a:sym typeface="Georgia"/>
              </a:rPr>
              <a:t>Description of this phase or sprint 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7420356" y="2395728"/>
            <a:ext cx="27300" cy="347400"/>
          </a:xfrm>
          <a:prstGeom prst="rect">
            <a:avLst/>
          </a:prstGeom>
          <a:solidFill>
            <a:srgbClr val="D4AF37">
              <a:alpha val="50199"/>
            </a:srgbClr>
          </a:solidFill>
          <a:ln cap="flat" cmpd="sng" w="12700">
            <a:solidFill>
              <a:srgbClr val="D4AF37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Subtitle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914400" y="1325880"/>
            <a:ext cx="3383280" cy="347472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2148840" y="1463040"/>
            <a:ext cx="914400" cy="91440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2148840" y="14630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1051560" y="24688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Subtitle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600200" y="2926080"/>
            <a:ext cx="2011680" cy="2743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600200" y="29260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051560" y="3310128"/>
            <a:ext cx="3108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029200" y="1325880"/>
            <a:ext cx="3383280" cy="347472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263640" y="1463040"/>
            <a:ext cx="914400" cy="91440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263640" y="14630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166360" y="24688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Subtitle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715000" y="2926080"/>
            <a:ext cx="2011680" cy="2743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715000" y="29260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166360" y="3310128"/>
            <a:ext cx="31089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subtext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502920" y="1325880"/>
            <a:ext cx="2560320" cy="155448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502920" y="1325880"/>
            <a:ext cx="2560320" cy="9144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94360" y="1463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051560" y="145389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12648" y="19202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383280" y="1325880"/>
            <a:ext cx="2560320" cy="155448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3383280" y="1325880"/>
            <a:ext cx="2560320" cy="9144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3474720" y="1463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3931920" y="145389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3493008" y="19202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263640" y="1325880"/>
            <a:ext cx="2560320" cy="155448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263640" y="1325880"/>
            <a:ext cx="2560320" cy="9144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355080" y="1463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812280" y="145389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t/>
            </a:r>
            <a:endParaRPr b="1" i="0" sz="1300" u="none" cap="none" strike="noStrike">
              <a:solidFill>
                <a:srgbClr val="D4AF3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373368" y="19202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02920" y="3154680"/>
            <a:ext cx="2560320" cy="155448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02920" y="3154680"/>
            <a:ext cx="2560320" cy="9144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94360" y="3291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♦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051560" y="328269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t/>
            </a:r>
            <a:endParaRPr b="1" i="0" sz="1300" u="none" cap="none" strike="noStrike">
              <a:solidFill>
                <a:srgbClr val="D4AF3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12648" y="37490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3383280" y="3154680"/>
            <a:ext cx="2560320" cy="155448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3383280" y="3154680"/>
            <a:ext cx="2560320" cy="9144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3474720" y="3291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3931920" y="328269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t/>
            </a:r>
            <a:endParaRPr b="1" i="0" sz="1300" u="none" cap="none" strike="noStrike">
              <a:solidFill>
                <a:srgbClr val="D4AF3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3493008" y="37490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6263640" y="3154680"/>
            <a:ext cx="2560320" cy="155448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6263640" y="3154680"/>
            <a:ext cx="2560320" cy="91440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6355080" y="3291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812280" y="328269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Text</a:t>
            </a:r>
            <a:endParaRPr b="1" i="0" sz="1300" u="none" cap="none" strike="noStrike">
              <a:solidFill>
                <a:srgbClr val="D4AF3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373368" y="3749040"/>
            <a:ext cx="23591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763811" y="1104901"/>
            <a:ext cx="78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♠  ♥  ♦  ♣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0" y="1280160"/>
            <a:ext cx="9144000" cy="109728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Title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 subtext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365760" y="1508760"/>
            <a:ext cx="40233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502920" y="16184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♠ 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02920" y="2039112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4754880" y="1508760"/>
            <a:ext cx="40233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4892040" y="16184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♦ 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4892040" y="2039112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365760" y="3154680"/>
            <a:ext cx="40233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502920" y="32644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♥ 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502920" y="3685032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4754880" y="3154680"/>
            <a:ext cx="40233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4892040" y="32644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♣ 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4892040" y="3685032"/>
            <a:ext cx="37490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4A4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822960" y="1051560"/>
            <a:ext cx="7223760" cy="73152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1005840" y="868680"/>
            <a:ext cx="365760" cy="36576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1170432" y="1234440"/>
            <a:ext cx="36576" cy="2286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182880" y="1463040"/>
            <a:ext cx="2194560" cy="141732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182880" y="1463040"/>
            <a:ext cx="2194560" cy="914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228600" y="1600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Sprint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228600" y="193852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Week 1–2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228600" y="221284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setup, CI/CD, team norms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3154680" y="868680"/>
            <a:ext cx="365760" cy="36576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3319272" y="1234440"/>
            <a:ext cx="36576" cy="178308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2331720" y="3017520"/>
            <a:ext cx="2194560" cy="141732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2331720" y="3017520"/>
            <a:ext cx="2194560" cy="914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2377440" y="31546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Sprint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2377440" y="34930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Week 3–4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2377440" y="376732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feature development begins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5303520" y="868680"/>
            <a:ext cx="365760" cy="36576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5468112" y="1234440"/>
            <a:ext cx="36576" cy="22860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480560" y="1463040"/>
            <a:ext cx="2194560" cy="141732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4480560" y="1463040"/>
            <a:ext cx="2194560" cy="914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526280" y="1600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Sprint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4526280" y="193852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Week 5–6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4526280" y="221284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 &amp; testing 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7452360" y="868680"/>
            <a:ext cx="365760" cy="365760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7616952" y="1234440"/>
            <a:ext cx="36576" cy="1783080"/>
          </a:xfrm>
          <a:prstGeom prst="rect">
            <a:avLst/>
          </a:prstGeom>
          <a:solidFill>
            <a:srgbClr val="4A4A4A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6629400" y="3017520"/>
            <a:ext cx="2194560" cy="1417320"/>
          </a:xfrm>
          <a:prstGeom prst="rect">
            <a:avLst/>
          </a:prstGeom>
          <a:solidFill>
            <a:srgbClr val="232323"/>
          </a:solidFill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/>
          <p:nvPr/>
        </p:nvSpPr>
        <p:spPr>
          <a:xfrm>
            <a:off x="6629400" y="3017520"/>
            <a:ext cx="2194560" cy="9144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6675120" y="31546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Sprint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6675120" y="34930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Week 7–8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6675120" y="376732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polish &amp; demo prep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D4AF37"/>
          </a:solidFill>
          <a:ln cap="flat" cmpd="sng" w="127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182880" y="274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♠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8229600" y="2743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♦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182880" y="41148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♣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8229600" y="41148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♥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914400" y="34290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200"/>
              <a:buFont typeface="Georgia"/>
              <a:buNone/>
            </a:pPr>
            <a:r>
              <a:rPr b="0" i="1" lang="en-US" sz="2200" u="none" cap="none" strike="noStrike">
                <a:solidFill>
                  <a:srgbClr val="D4AF37"/>
                </a:solidFill>
                <a:latin typeface="Georgia"/>
                <a:ea typeface="Georgia"/>
                <a:cs typeface="Georgia"/>
                <a:sym typeface="Georgia"/>
              </a:rPr>
              <a:t>"Always bet on 21."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Team 9+10  ·  CSE 110  ·  Group 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8238" y="1141464"/>
            <a:ext cx="2287525" cy="22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